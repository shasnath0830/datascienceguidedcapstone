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W//vEsWJLPY9v+Rzv9A159QVA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dcd816165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dcd81616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cd816165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dcd81616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ddb6fb905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ddb6fb90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db6fb905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ddb6fb90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/>
          <p:nvPr>
            <p:ph type="ctrTitle"/>
          </p:nvPr>
        </p:nvSpPr>
        <p:spPr>
          <a:xfrm>
            <a:off x="2640013" y="484479"/>
            <a:ext cx="6911974" cy="2954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Rockwel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2640013" y="3799133"/>
            <a:ext cx="6911974" cy="1969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" type="body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" type="body"/>
          </p:nvPr>
        </p:nvSpPr>
        <p:spPr>
          <a:xfrm>
            <a:off x="720000" y="2541600"/>
            <a:ext cx="5003800" cy="323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2" type="body"/>
          </p:nvPr>
        </p:nvSpPr>
        <p:spPr>
          <a:xfrm>
            <a:off x="6458400" y="2541600"/>
            <a:ext cx="5003801" cy="323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619200"/>
            <a:ext cx="10728326" cy="28797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Rockwel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719910" y="3858924"/>
            <a:ext cx="10728326" cy="1919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720000" y="619200"/>
            <a:ext cx="10728325" cy="67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720000" y="1840698"/>
            <a:ext cx="5015638" cy="5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sz="16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720000" y="2541600"/>
            <a:ext cx="5003801" cy="323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6458400" y="1840698"/>
            <a:ext cx="5015638" cy="5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sz="16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0"/>
          <p:cNvSpPr txBox="1"/>
          <p:nvPr>
            <p:ph idx="4" type="body"/>
          </p:nvPr>
        </p:nvSpPr>
        <p:spPr>
          <a:xfrm>
            <a:off x="6458400" y="2541600"/>
            <a:ext cx="5003800" cy="323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720000" y="619200"/>
            <a:ext cx="310746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48188" y="584662"/>
            <a:ext cx="6911974" cy="518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720000" y="2541600"/>
            <a:ext cx="3107463" cy="32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720000" y="619200"/>
            <a:ext cx="3095626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/>
          <p:nvPr>
            <p:ph idx="2" type="pic"/>
          </p:nvPr>
        </p:nvSpPr>
        <p:spPr>
          <a:xfrm>
            <a:off x="4548188" y="728664"/>
            <a:ext cx="6923812" cy="5040312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720000" y="2541600"/>
            <a:ext cx="3095625" cy="3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 rot="5400000">
            <a:off x="4518094" y="-1161256"/>
            <a:ext cx="3132137" cy="1072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 rot="5400000">
            <a:off x="8354663" y="2505824"/>
            <a:ext cx="50489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 rot="5400000">
            <a:off x="2672158" y="-1220319"/>
            <a:ext cx="5048975" cy="892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5"/>
          <p:cNvSpPr txBox="1"/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  <a:defRPr b="0" i="0" sz="3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55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lv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0" lvl="0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2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6480000" y="1449388"/>
            <a:ext cx="5015638" cy="20750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ckwell"/>
              <a:buNone/>
            </a:pPr>
            <a:r>
              <a:rPr lang="en-US"/>
              <a:t>Big Resort Mountain Slide Deck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6480000" y="3830398"/>
            <a:ext cx="5015638" cy="1219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Sadekin Hasnath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3/7/25</a:t>
            </a:r>
            <a:endParaRPr/>
          </a:p>
        </p:txBody>
      </p:sp>
      <p:pic>
        <p:nvPicPr>
          <p:cNvPr descr="Aesthetic liquid watercolor and ink" id="89" name="Google Shape;89;p1"/>
          <p:cNvPicPr preferRelativeResize="0"/>
          <p:nvPr/>
        </p:nvPicPr>
        <p:blipFill rotWithShape="1">
          <a:blip r:embed="rId3">
            <a:alphaModFix/>
          </a:blip>
          <a:srcRect b="0" l="9833" r="37224" t="0"/>
          <a:stretch/>
        </p:blipFill>
        <p:spPr>
          <a:xfrm>
            <a:off x="20" y="10"/>
            <a:ext cx="5903704" cy="6857990"/>
          </a:xfrm>
          <a:custGeom>
            <a:rect b="b" l="l" r="r" t="t"/>
            <a:pathLst>
              <a:path extrusionOk="0" h="6858000" w="5903724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90" name="Google Shape;90;p1"/>
          <p:cNvGrpSpPr/>
          <p:nvPr/>
        </p:nvGrpSpPr>
        <p:grpSpPr>
          <a:xfrm rot="10800000">
            <a:off x="7859784" y="317452"/>
            <a:ext cx="2218352" cy="641300"/>
            <a:chOff x="4475992" y="5003195"/>
            <a:chExt cx="3167821" cy="915780"/>
          </a:xfrm>
        </p:grpSpPr>
        <p:sp>
          <p:nvSpPr>
            <p:cNvPr id="91" name="Google Shape;91;p1"/>
            <p:cNvSpPr/>
            <p:nvPr/>
          </p:nvSpPr>
          <p:spPr>
            <a:xfrm rot="5400000">
              <a:off x="5690691" y="5352589"/>
              <a:ext cx="749228" cy="383544"/>
            </a:xfrm>
            <a:custGeom>
              <a:rect b="b" l="l" r="r" t="t"/>
              <a:pathLst>
                <a:path extrusionOk="0" h="34" w="66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rot="6274527">
              <a:off x="6910134" y="5062687"/>
              <a:ext cx="647637" cy="678578"/>
            </a:xfrm>
            <a:custGeom>
              <a:rect b="b" l="l" r="r" t="t"/>
              <a:pathLst>
                <a:path extrusionOk="0" h="60" w="57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4430858">
              <a:off x="4571743" y="5071596"/>
              <a:ext cx="626472" cy="670149"/>
            </a:xfrm>
            <a:custGeom>
              <a:rect b="b" l="l" r="r" t="t"/>
              <a:pathLst>
                <a:path extrusionOk="0" h="59" w="55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 rot="10800000">
            <a:off x="7945211" y="5350870"/>
            <a:ext cx="2172608" cy="771782"/>
            <a:chOff x="4475991" y="462098"/>
            <a:chExt cx="3102496" cy="1102109"/>
          </a:xfrm>
        </p:grpSpPr>
        <p:sp>
          <p:nvSpPr>
            <p:cNvPr id="95" name="Google Shape;95;p1"/>
            <p:cNvSpPr/>
            <p:nvPr/>
          </p:nvSpPr>
          <p:spPr>
            <a:xfrm rot="600114">
              <a:off x="4532666" y="754398"/>
              <a:ext cx="694205" cy="713383"/>
            </a:xfrm>
            <a:custGeom>
              <a:rect b="b" l="l" r="r" t="t"/>
              <a:pathLst>
                <a:path extrusionOk="0" h="60" w="58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 rot="600114">
              <a:off x="5791465" y="505937"/>
              <a:ext cx="587404" cy="943792"/>
            </a:xfrm>
            <a:custGeom>
              <a:rect b="b" l="l" r="r" t="t"/>
              <a:pathLst>
                <a:path extrusionOk="0" h="79" w="4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600114">
              <a:off x="7087193" y="757585"/>
              <a:ext cx="427203" cy="775416"/>
            </a:xfrm>
            <a:custGeom>
              <a:rect b="b" l="l" r="r" t="t"/>
              <a:pathLst>
                <a:path extrusionOk="0" h="65" w="36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720000" y="619200"/>
            <a:ext cx="10728322" cy="1037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</a:pPr>
            <a:r>
              <a:rPr lang="en-US"/>
              <a:t>Problem Identification – Business Challenge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720000" y="1865014"/>
            <a:ext cx="10728325" cy="4373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Big Mountain Resort recently invested $1.54 million in a new chairlift for increased capacity.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They were already charging premium prices, but the revenue wasn’t reaching its potential.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There were no structured pricing strategies, such as data-driven pricing.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question was how could we maximize ticket pricing strategy for Big Mountain Resort by leveraging data-driven analysis to estimate competitive market prices for revenue optimization.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720000" y="619200"/>
            <a:ext cx="10728322" cy="82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</a:pPr>
            <a:r>
              <a:rPr lang="en-US"/>
              <a:t>Recommendation and key findings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720000" y="1765426"/>
            <a:ext cx="5003800" cy="447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From the full complete analysis of our project, we anticipated numerous findings, but this is the most critical insight.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current ticket price for big mountain resort was at $81.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predicted optimal price was $95.87, an optimal range of $85.48-106.26.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indicated that the resort were undercharging, leaving out on potential revenue.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 txBox="1"/>
          <p:nvPr>
            <p:ph idx="2" type="body"/>
          </p:nvPr>
        </p:nvSpPr>
        <p:spPr>
          <a:xfrm>
            <a:off x="6458400" y="1765426"/>
            <a:ext cx="5003801" cy="447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Best approach would be to modify the ticket price close to $95.87.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Top 3 pricing influencers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Vertical drop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Fast Quad Lifts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Total Chairs 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Runs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Close the least used runs, but not more than 5+ as this reduces revenue noticeably.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Increase vertical drop and add a chairlift for the best financial outcome.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720000" y="619200"/>
            <a:ext cx="107283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</a:pPr>
            <a:r>
              <a:rPr lang="en-US"/>
              <a:t>Data Wrangling &amp; Feature Selection 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720000" y="1760100"/>
            <a:ext cx="9881700" cy="4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300"/>
              <a:t>Our key goal was to wrangle the data into a consistent and proper format by removing </a:t>
            </a:r>
            <a:r>
              <a:rPr lang="en-US" sz="2300"/>
              <a:t>redundant</a:t>
            </a:r>
            <a:r>
              <a:rPr lang="en-US" sz="2300"/>
              <a:t> and outliers, as this is a crucial step for </a:t>
            </a:r>
            <a:r>
              <a:rPr lang="en-US" sz="2300"/>
              <a:t>maintaining the values that would provide the best insights.</a:t>
            </a:r>
            <a:endParaRPr sz="23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300"/>
              <a:t>Initial dataset - 330 resorts, 27 features</a:t>
            </a:r>
            <a:endParaRPr sz="23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300"/>
              <a:t>Final dataset - 227 resorts - 25 features </a:t>
            </a:r>
            <a:endParaRPr sz="23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 sz="2300"/>
              <a:t>Target Variable </a:t>
            </a:r>
            <a:r>
              <a:rPr lang="en-US" sz="2300"/>
              <a:t>- AdultWeekend ticket price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dcd816165_1_1"/>
          <p:cNvSpPr txBox="1"/>
          <p:nvPr>
            <p:ph type="title"/>
          </p:nvPr>
        </p:nvSpPr>
        <p:spPr>
          <a:xfrm>
            <a:off x="285025" y="213225"/>
            <a:ext cx="4415400" cy="11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Exploratory</a:t>
            </a:r>
            <a:r>
              <a:rPr lang="en-US"/>
              <a:t> data analysis  </a:t>
            </a:r>
            <a:endParaRPr/>
          </a:p>
        </p:txBody>
      </p:sp>
      <p:sp>
        <p:nvSpPr>
          <p:cNvPr id="122" name="Google Shape;122;g33dcd816165_1_1"/>
          <p:cNvSpPr txBox="1"/>
          <p:nvPr>
            <p:ph idx="1" type="body"/>
          </p:nvPr>
        </p:nvSpPr>
        <p:spPr>
          <a:xfrm>
            <a:off x="198025" y="1642475"/>
            <a:ext cx="4604100" cy="41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800"/>
              <a:t>Insights from EDA</a:t>
            </a:r>
            <a:r>
              <a:rPr lang="en-US" sz="1800"/>
              <a:t> exploratory data analysis, these were the most important key takeaways.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 strong positive correlation was observed between vertical drop, fast quad lifts, number of runs, total chairs, and ticket price.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Negative Correlation between skiable terrain area, likely due to crowding.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Visitors also value snow coverage, as this indicates guaranteed snow for skiing.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3dcd816165_1_1"/>
          <p:cNvSpPr txBox="1"/>
          <p:nvPr>
            <p:ph idx="2" type="body"/>
          </p:nvPr>
        </p:nvSpPr>
        <p:spPr>
          <a:xfrm>
            <a:off x="6458400" y="2035500"/>
            <a:ext cx="5003700" cy="37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g33dcd816165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25" y="213225"/>
            <a:ext cx="6988500" cy="638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dcd816165_1_8"/>
          <p:cNvSpPr txBox="1"/>
          <p:nvPr>
            <p:ph type="title"/>
          </p:nvPr>
        </p:nvSpPr>
        <p:spPr>
          <a:xfrm>
            <a:off x="720000" y="288325"/>
            <a:ext cx="10728300" cy="5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&amp; Selection</a:t>
            </a:r>
            <a:endParaRPr/>
          </a:p>
        </p:txBody>
      </p:sp>
      <p:sp>
        <p:nvSpPr>
          <p:cNvPr id="130" name="Google Shape;130;g33dcd816165_1_8"/>
          <p:cNvSpPr txBox="1"/>
          <p:nvPr>
            <p:ph idx="1" type="body"/>
          </p:nvPr>
        </p:nvSpPr>
        <p:spPr>
          <a:xfrm>
            <a:off x="720000" y="2122650"/>
            <a:ext cx="5003700" cy="43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/>
              <a:t>Linear Regression</a:t>
            </a:r>
            <a:endParaRPr b="1" sz="28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Performed poor due to non-linear relationships in the data.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1" name="Google Shape;131;g33dcd816165_1_8"/>
          <p:cNvSpPr txBox="1"/>
          <p:nvPr>
            <p:ph idx="2" type="body"/>
          </p:nvPr>
        </p:nvSpPr>
        <p:spPr>
          <a:xfrm>
            <a:off x="5918475" y="2122625"/>
            <a:ext cx="5543700" cy="43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/>
              <a:t>Random Forest Regressor</a:t>
            </a:r>
            <a:endParaRPr b="1" sz="28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lang="en-US" sz="1500"/>
              <a:t>This model provided more accurate predictions by capturing complex interactions between variables. This model was </a:t>
            </a:r>
            <a:r>
              <a:rPr lang="en-US" sz="1500"/>
              <a:t>selected since it was close to the actual ticket price by $1.</a:t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3dcd816165_1_8"/>
          <p:cNvSpPr txBox="1"/>
          <p:nvPr/>
        </p:nvSpPr>
        <p:spPr>
          <a:xfrm>
            <a:off x="731850" y="1082788"/>
            <a:ext cx="107283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After training the data in 70/30 split, we had to impute for missing values, transform by scaling, and then finally we tested 2 different models, and went with the best.</a:t>
            </a:r>
            <a:endParaRPr sz="2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3" name="Google Shape;133;g33dcd816165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75" y="3703025"/>
            <a:ext cx="5229625" cy="28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3dcd816165_1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475" y="3951125"/>
            <a:ext cx="59436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ddb6fb905_0_11"/>
          <p:cNvSpPr txBox="1"/>
          <p:nvPr>
            <p:ph type="title"/>
          </p:nvPr>
        </p:nvSpPr>
        <p:spPr>
          <a:xfrm>
            <a:off x="662000" y="242225"/>
            <a:ext cx="107283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Scenarios</a:t>
            </a:r>
            <a:endParaRPr/>
          </a:p>
        </p:txBody>
      </p:sp>
      <p:sp>
        <p:nvSpPr>
          <p:cNvPr id="140" name="Google Shape;140;g33ddb6fb905_0_11"/>
          <p:cNvSpPr txBox="1"/>
          <p:nvPr>
            <p:ph idx="1" type="body"/>
          </p:nvPr>
        </p:nvSpPr>
        <p:spPr>
          <a:xfrm>
            <a:off x="531500" y="1114975"/>
            <a:ext cx="3545700" cy="19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Closing least used runs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Closing 1 run - No impact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Closing 3-5 runs - Revenue decline by $700K-2.3M.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Closing 5+ runs - Significant loss.</a:t>
            </a:r>
            <a:endParaRPr sz="18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1" name="Google Shape;141;g33ddb6fb905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00" y="3162825"/>
            <a:ext cx="6244526" cy="358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3ddb6fb905_0_11"/>
          <p:cNvSpPr txBox="1"/>
          <p:nvPr/>
        </p:nvSpPr>
        <p:spPr>
          <a:xfrm>
            <a:off x="6773925" y="92825"/>
            <a:ext cx="4886100" cy="30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●"/>
            </a:pPr>
            <a:r>
              <a:rPr lang="en-US" sz="21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Adding a vertical drop of 150 ft along with a chairlift</a:t>
            </a:r>
            <a:endParaRPr sz="21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venir"/>
              <a:buChar char="○"/>
            </a:pPr>
            <a:r>
              <a:rPr lang="en-US" sz="21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Revenue increase: $3,474,638</a:t>
            </a:r>
            <a:endParaRPr sz="21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19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venir"/>
              <a:buChar char="○"/>
            </a:pPr>
            <a:r>
              <a:rPr lang="en-US" sz="21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Ticket price increase: +$1.99</a:t>
            </a:r>
            <a:endParaRPr sz="21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This is the best possible scenario Big Mountain Resort can implement for revenue growth.</a:t>
            </a:r>
            <a:endParaRPr sz="21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" name="Google Shape;143;g33ddb6fb905_0_11"/>
          <p:cNvSpPr txBox="1"/>
          <p:nvPr/>
        </p:nvSpPr>
        <p:spPr>
          <a:xfrm>
            <a:off x="6773925" y="3068575"/>
            <a:ext cx="53358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Char char="●"/>
            </a:pPr>
            <a:r>
              <a:rPr lang="en-US" sz="1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Additonal 2 Scenarios</a:t>
            </a:r>
            <a:endParaRPr sz="19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365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Char char="○"/>
            </a:pPr>
            <a:r>
              <a:rPr lang="en-US" sz="1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Adding a snow making machine along with the previous scenario.</a:t>
            </a:r>
            <a:endParaRPr sz="19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venir"/>
              <a:buChar char="○"/>
            </a:pPr>
            <a:r>
              <a:rPr lang="en-US" sz="1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This scenario had same revenue as the vertical drop one, except the additonal equipment, uncessary investment.</a:t>
            </a:r>
            <a:endParaRPr sz="19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venir"/>
              <a:buChar char="●"/>
            </a:pPr>
            <a:r>
              <a:rPr lang="en-US" sz="1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Increasing the Longest Run by 0.2 Miles</a:t>
            </a:r>
            <a:endParaRPr sz="19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venir"/>
              <a:buChar char="○"/>
            </a:pPr>
            <a:r>
              <a:rPr lang="en-US" sz="19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No impact on revenue, should not be a a priority investment.</a:t>
            </a:r>
            <a:endParaRPr sz="19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ddb6fb905_0_37"/>
          <p:cNvSpPr txBox="1"/>
          <p:nvPr>
            <p:ph type="title"/>
          </p:nvPr>
        </p:nvSpPr>
        <p:spPr>
          <a:xfrm>
            <a:off x="720000" y="619200"/>
            <a:ext cx="10728300" cy="10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&amp; Conclusion</a:t>
            </a:r>
            <a:endParaRPr/>
          </a:p>
        </p:txBody>
      </p:sp>
      <p:sp>
        <p:nvSpPr>
          <p:cNvPr id="149" name="Google Shape;149;g33ddb6fb905_0_37"/>
          <p:cNvSpPr txBox="1"/>
          <p:nvPr>
            <p:ph idx="1" type="body"/>
          </p:nvPr>
        </p:nvSpPr>
        <p:spPr>
          <a:xfrm>
            <a:off x="720000" y="1847175"/>
            <a:ext cx="10728300" cy="39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Big Mountain Resort is undercharging - </a:t>
            </a:r>
            <a:r>
              <a:rPr lang="en-US"/>
              <a:t>Raising prices would be a viable option, within the prediction range of $95.87 (range: $85.48 - $106.26).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Investing in vertical drop expansion &amp; chairlifts offers the best return.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Closing underused runs can cut costs, but too many closures harm revenue.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Future Recommendation: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Implement a tiered pricing model.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dynamic dashboard could be developed, to hypothetically allow analysts to test pricing scenarios in real-time and make data-driven decisions.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obVTI">
  <a:themeElements>
    <a:clrScheme name="Blob V2">
      <a:dk1>
        <a:srgbClr val="000000"/>
      </a:dk1>
      <a:lt1>
        <a:srgbClr val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2025-03-07T05:59:39Z</dcterms:created>
  <dc:creator>Sadekin Hasnath</dc:creator>
</cp:coreProperties>
</file>